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44029"/>
          </a:solidFill>
          <a:ln/>
        </p:spPr>
      </p:sp>
      <p:pic>
        <p:nvPicPr>
          <p:cNvPr id="4" name="Image 0" descr="/home/claude/ppt/icons/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498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7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AGRIVISION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for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Smallholder Agribusiness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applied ML internship: early crop-disease detection, from strategic planning through data engineering, model development, and field deployment.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5257800"/>
            <a:ext cx="2926080" cy="0"/>
          </a:xfrm>
          <a:prstGeom prst="line">
            <a:avLst/>
          </a:prstGeom>
          <a:noFill/>
          <a:ln w="25400">
            <a:solidFill>
              <a:srgbClr val="C97B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440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Shyam Jee Upadhyay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Section 3CSE3 | Roll No. 2410030380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60533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Machine Learning Engineer – Agribusiness Intern, YuvaIntern (Henry Harvin Education) | Sep–Oct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ppt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crop disease diagnosis is slow, and what it costs smallholder farmers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219456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1" descr="/home/claude/ppt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331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611880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a mobile-first ML diagnostic tool and its architecture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6520" y="219456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2" descr="/home/claude/ppt/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3317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446520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Journey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4652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Data → Model → Deployment, week by week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52560" y="19202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23" name="Shape 18"/>
          <p:cNvSpPr/>
          <p:nvPr/>
        </p:nvSpPr>
        <p:spPr>
          <a:xfrm>
            <a:off x="9281160" y="219456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4" name="Image 3" descr="/home/claude/ppt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3317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2971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9281160" y="3337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Next Steps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8116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metrics, risks, and the path to scale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5" name="Image 0" descr="/home/claude/ppt/icons/buil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892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88720" y="2194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YuvaIntern, in association with Henry Harvin Education (NSDC-aligned)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/home/claude/ppt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815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944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88720" y="3246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Machine Learning Engineer – Agribusiness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3" name="Image 2" descr="/home/claude/ppt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330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995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188720" y="4297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10 – October 08, 2026 (4 weeks, remote)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7" name="Image 3" descr="/home/claude/ppt/icons/seedl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1846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5047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88720" y="5349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codenamed “Project AgriVision”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675120" y="1920240"/>
            <a:ext cx="4937760" cy="3977640"/>
          </a:xfrm>
          <a:prstGeom prst="roundRect">
            <a:avLst>
              <a:gd name="adj" fmla="val 2759"/>
            </a:avLst>
          </a:prstGeom>
          <a:solidFill>
            <a:srgbClr val="1B4332"/>
          </a:solidFill>
          <a:ln/>
        </p:spPr>
      </p:sp>
      <p:pic>
        <p:nvPicPr>
          <p:cNvPr id="21" name="Image 4" descr="/home/claude/ppt/icons/bulb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2402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35240" y="2267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040880" y="288036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grow most of the food in many developing regions, yet often wait a week or more for an expert to confirm a crop disease diagnosis. By the time treatment arrives, low-cost intervention is no longer effective.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040880" y="4160520"/>
            <a:ext cx="4251960" cy="0"/>
          </a:xfrm>
          <a:prstGeom prst="line">
            <a:avLst/>
          </a:prstGeom>
          <a:noFill/>
          <a:ln w="12700">
            <a:solidFill>
              <a:srgbClr val="3E6656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040880" y="434340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0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worked through a realistic, deployable answer to that gap — an ML tool a farmer can reach directly from a phone.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delay costs the harvest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detect disease through visual inspection and word-of-mouth, then travel to or wait for an extension officer to confirm it. The process is slow, inconsistent across regions, and doesn't scale during an outbreak.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7EF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 days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wait for a confirmed diagnosis today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514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7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1/3–1/2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potential harvest lost to pests/disease in affected sub-Saharan African crops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25146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E7EFE9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697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$100s of billions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366760" y="33832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global economic cost of crop pathogens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machine learning fits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983480"/>
            <a:ext cx="10881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symptoms (leaf spots, wilting) suit image classification, which has matched expert-level accuracy in published studies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diagnoses in seconds, on-device or via low-bandwidth server call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per diagnosis is near zero once trained — scales to thousands of farmers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anonymized results can power a live regional disease-outbreak map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(SMART-scoped)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E7EFE9"/>
          </a:solidFill>
          <a:ln w="9525">
            <a:solidFill>
              <a:srgbClr val="E7EF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28216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282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5506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9080" y="165506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classifier for the top 5 pilot-crop diseases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23960" y="165506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top-1 validation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624328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6243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5117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speed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255117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USSD photo-based diagnosis, usable offline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23960" y="255117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seconds on a mid-range phone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E7EFE9"/>
          </a:solidFill>
          <a:ln w="9525">
            <a:solidFill>
              <a:srgbClr val="E7EF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520440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520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4472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69080" y="34472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symptom-to-diagnosis gap for pilot farmers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344728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~5–7 days → under 24 hours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88536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416552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4165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4343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4343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yield &amp; pesticide-use impact vs. control group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23960" y="43434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reduction in yield loss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184648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E7EFE9"/>
          </a:solidFill>
          <a:ln w="9525">
            <a:solidFill>
              <a:srgbClr val="E7EF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5312664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3126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08760" y="52395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69080" y="52395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feedback loop for retraining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23960" y="523951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live before pilot 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Four-layer solution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/>
        </p:spPr>
      </p:sp>
      <p:sp>
        <p:nvSpPr>
          <p:cNvPr id="5" name="Shape 3"/>
          <p:cNvSpPr/>
          <p:nvPr/>
        </p:nvSpPr>
        <p:spPr>
          <a:xfrm>
            <a:off x="1504188" y="2103120"/>
            <a:ext cx="694944" cy="694944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6" name="Image 0" descr="/home/claude/ppt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24942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2608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agricultural datasets, partner cooperatives, farmer-submitted photos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2788920"/>
            <a:ext cx="201168" cy="365760"/>
          </a:xfrm>
          <a:prstGeom prst="rightArrow">
            <a:avLst/>
          </a:prstGeom>
          <a:solidFill>
            <a:srgbClr val="6B9080"/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18288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/>
        </p:spPr>
      </p:sp>
      <p:sp>
        <p:nvSpPr>
          <p:cNvPr id="11" name="Shape 8"/>
          <p:cNvSpPr/>
          <p:nvPr/>
        </p:nvSpPr>
        <p:spPr>
          <a:xfrm>
            <a:off x="4338828" y="2103120"/>
            <a:ext cx="694944" cy="694944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12" name="Image 1" descr="/home/claude/ppt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24942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292608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66160" y="3291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lightweight vision transformer, fine-tuned via transfer learning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07608" y="2788920"/>
            <a:ext cx="201168" cy="365760"/>
          </a:xfrm>
          <a:prstGeom prst="rightArrow">
            <a:avLst/>
          </a:prstGeom>
          <a:solidFill>
            <a:srgbClr val="6B9080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0" y="18288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3468" y="2103120"/>
            <a:ext cx="694944" cy="694944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18" name="Image 2" descr="/home/claude/ppt/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2249424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292608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0" y="3291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offline capture + SMS/USSD channel for feature phones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842248" y="2788920"/>
            <a:ext cx="201168" cy="365760"/>
          </a:xfrm>
          <a:prstGeom prst="rightArrow">
            <a:avLst/>
          </a:prstGeom>
          <a:solidFill>
            <a:srgbClr val="6B9080"/>
          </a:solidFill>
          <a:ln/>
        </p:spPr>
      </p:sp>
      <p:sp>
        <p:nvSpPr>
          <p:cNvPr id="22" name="Shape 17"/>
          <p:cNvSpPr/>
          <p:nvPr/>
        </p:nvSpPr>
        <p:spPr>
          <a:xfrm>
            <a:off x="9052560" y="18288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1B4332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08108" y="2103120"/>
            <a:ext cx="694944" cy="694944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24" name="Image 3" descr="/home/claude/ppt/icons/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2" y="2249424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292608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Layer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35440" y="32918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diagnoses aggregated into a regional outbreak dashboard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model: hybrid cloud–edge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548640" y="4846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model on a managed cloud endpoint, autoscaled for seasonal demand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mobile / progressive web app with offline caching of the last recommendation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USSD / WhatsApp fallback for smallholder farmers without smartphones or data plans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four-week, deliverable-driven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560320"/>
            <a:ext cx="10149840" cy="0"/>
          </a:xfrm>
          <a:prstGeom prst="line">
            <a:avLst/>
          </a:prstGeom>
          <a:noFill/>
          <a:ln w="38100">
            <a:solidFill>
              <a:srgbClr val="6B9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2103120"/>
            <a:ext cx="640080" cy="640080"/>
          </a:xfrm>
          <a:prstGeom prst="ellipse">
            <a:avLst/>
          </a:prstGeom>
          <a:solidFill>
            <a:srgbClr val="1B433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ppt/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24028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06324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E7EFE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Plan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framing, objectives, architecture, 16-week pilot roadmap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2103120"/>
            <a:ext cx="640080" cy="640080"/>
          </a:xfrm>
          <a:prstGeom prst="ellipse">
            <a:avLst/>
          </a:prstGeom>
          <a:solidFill>
            <a:srgbClr val="C97B2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ppt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240280"/>
            <a:ext cx="365760" cy="365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46704" y="306324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E7EFE9"/>
          </a:solidFill>
          <a:ln/>
        </p:spPr>
      </p:sp>
      <p:sp>
        <p:nvSpPr>
          <p:cNvPr id="14" name="Text 10"/>
          <p:cNvSpPr/>
          <p:nvPr/>
        </p:nvSpPr>
        <p:spPr>
          <a:xfrm>
            <a:off x="3529584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29584" y="35204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Features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29584" y="4069080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methodology + feature engineering for messy agri-data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095744" y="2103120"/>
            <a:ext cx="640080" cy="640080"/>
          </a:xfrm>
          <a:prstGeom prst="ellipse">
            <a:avLst/>
          </a:prstGeom>
          <a:solidFill>
            <a:srgbClr val="1B433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2" descr="/home/claude/ppt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2240280"/>
            <a:ext cx="365760" cy="3657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144768" y="306324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E7EFE9"/>
          </a:solidFill>
          <a:ln/>
        </p:spPr>
      </p:sp>
      <p:sp>
        <p:nvSpPr>
          <p:cNvPr id="20" name="Text 15"/>
          <p:cNvSpPr/>
          <p:nvPr/>
        </p:nvSpPr>
        <p:spPr>
          <a:xfrm>
            <a:off x="6327648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27648" y="35204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27648" y="4069080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selection, evaluation metrics, tuning strategy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893808" y="2103120"/>
            <a:ext cx="640080" cy="640080"/>
          </a:xfrm>
          <a:prstGeom prst="ellipse">
            <a:avLst/>
          </a:prstGeom>
          <a:solidFill>
            <a:srgbClr val="C97B2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4" name="Image 3" descr="/home/claude/ppt/icons/rock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2240280"/>
            <a:ext cx="365760" cy="3657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942832" y="306324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E7EFE9"/>
          </a:solidFill>
          <a:ln/>
        </p:spPr>
      </p:sp>
      <p:sp>
        <p:nvSpPr>
          <p:cNvPr id="26" name="Text 20"/>
          <p:cNvSpPr/>
          <p:nvPr/>
        </p:nvSpPr>
        <p:spPr>
          <a:xfrm>
            <a:off x="9125712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125712" y="35204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Comms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125712" y="4069080"/>
            <a:ext cx="2176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architecture + stakeholder communication plan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DATA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Agricultural data is messy — on purpose-aware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pic>
        <p:nvPicPr>
          <p:cNvPr id="5" name="Image 0" descr="/home/claude/ppt/icons/bulb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2763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principle: data-quality issues follow agronomic logic (sensors fail in storms, farmers skip readings at harvest) — fixes should follow domain knowledge, not generic statistics.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834640"/>
            <a:ext cx="502920" cy="502920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9" name="Image 1" descr="/home/claude/ppt/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38404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downtime, unreported harvests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1520" y="4434840"/>
            <a:ext cx="224028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45720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interpolation, KNN spatial imputation, multiple imputation with flags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83280" y="26060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15" name="Shape 11"/>
          <p:cNvSpPr/>
          <p:nvPr/>
        </p:nvSpPr>
        <p:spPr>
          <a:xfrm>
            <a:off x="3584448" y="2834640"/>
            <a:ext cx="502920" cy="502920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16" name="Image 2" descr="/home/claude/ppt/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9535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566160" y="38404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errors vs. real droughts/floods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566160" y="4434840"/>
            <a:ext cx="224028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566160" y="45720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&amp; crop-specific thresholds; cap true errors, flag &amp; keep real extremes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17920" y="26060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22" name="Shape 17"/>
          <p:cNvSpPr/>
          <p:nvPr/>
        </p:nvSpPr>
        <p:spPr>
          <a:xfrm>
            <a:off x="6419088" y="2834640"/>
            <a:ext cx="502920" cy="502920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23" name="Image 3" descr="/home/claude/ppt/icon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95351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0080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Mismatch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0" y="38404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rainfall, tons yield, pH, ppm nutrients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00800" y="4434840"/>
            <a:ext cx="224028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0" y="45720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Min-max, z-score, and log transforms — scaled per crop / agro-ecological zone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052560" y="260604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29" name="Shape 23"/>
          <p:cNvSpPr/>
          <p:nvPr/>
        </p:nvSpPr>
        <p:spPr>
          <a:xfrm>
            <a:off x="9253728" y="2834640"/>
            <a:ext cx="502920" cy="502920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30" name="Image 4" descr="/home/claude/ppt/icons/networ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95351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35440" y="3474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235440" y="38404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variables under-inform on their own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9235440" y="4434840"/>
            <a:ext cx="224028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9235440" y="45720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Degree Days, N:P:K ratios, water balance index, NDVI trajectory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MODEL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algorithms to agribusiness constraints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against three criteria: interpretability (can an agronomist trust it), speed, and scalability.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60520" y="2057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0" y="2057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1064240" cy="566928"/>
          </a:xfrm>
          <a:prstGeom prst="rect">
            <a:avLst/>
          </a:prstGeom>
          <a:solidFill>
            <a:srgbClr val="E7EFE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1460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Logistic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5146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trend estimation, simple risk scoring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251460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0" y="25146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8152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8152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308152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prediction, disease-risk classification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308152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30815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48456"/>
            <a:ext cx="11064240" cy="566928"/>
          </a:xfrm>
          <a:prstGeom prst="rect">
            <a:avLst/>
          </a:prstGeom>
          <a:solidFill>
            <a:srgbClr val="E7EFE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4845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(XGBoost/LightGBM)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60520" y="364845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yield &amp; price forecasting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364845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(+SHAP)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364845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15384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1538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(Transfer Learning)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421538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disease/pest detection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421538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(+Grad-CAM)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0" y="421538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infer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782312"/>
            <a:ext cx="11064240" cy="566928"/>
          </a:xfrm>
          <a:prstGeom prst="rect">
            <a:avLst/>
          </a:prstGeom>
          <a:solidFill>
            <a:srgbClr val="E7EFE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8231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(ARIMA/Prophet/LSTM)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478231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yield &amp; price forecasting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478231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0" y="478231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approach: </a:t>
            </a:r>
            <a:pPr indent="0" marL="0">
              <a:buNone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for tabular yield/price problems (paired with SHAP for explainability), Random Forest as a robust fallback, and a transfer-learning CNN for image-based disease detection.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that reflect real agricultural stakes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ML metrics alone hide the cost of being wrong: a missed outbreak (recall failure) can cost a season's harvest; a false alarm (precision failure) wastes scarce inputs and erodes trust.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97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(Sensitivity)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2240280" cy="0"/>
          </a:xfrm>
          <a:prstGeom prst="line">
            <a:avLst/>
          </a:prstGeom>
          <a:noFill/>
          <a:ln w="12700">
            <a:solidFill>
              <a:srgbClr val="4A80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290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disease/pest cases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7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a miss can devastate a harvest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97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566160" y="3291840"/>
            <a:ext cx="2240280" cy="0"/>
          </a:xfrm>
          <a:prstGeom prst="line">
            <a:avLst/>
          </a:prstGeom>
          <a:noFill/>
          <a:ln w="12700">
            <a:solidFill>
              <a:srgbClr val="4A80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4290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treatments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4206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7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avoids wasted chemicals &amp; cost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97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/ RMSE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0" y="3291840"/>
            <a:ext cx="2240280" cy="0"/>
          </a:xfrm>
          <a:prstGeom prst="line">
            <a:avLst/>
          </a:prstGeom>
          <a:noFill/>
          <a:ln w="12700">
            <a:solidFill>
              <a:srgbClr val="4A80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4290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 error (tons/ha)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206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7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in farmer-meaningful units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2331720"/>
            <a:ext cx="2606040" cy="2971800"/>
          </a:xfrm>
          <a:prstGeom prst="roundRect">
            <a:avLst>
              <a:gd name="adj" fmla="val 3509"/>
            </a:avLst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560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97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Actionability Lead Time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235440" y="3291840"/>
            <a:ext cx="2240280" cy="0"/>
          </a:xfrm>
          <a:prstGeom prst="line">
            <a:avLst/>
          </a:prstGeom>
          <a:noFill/>
          <a:ln w="12700">
            <a:solidFill>
              <a:srgbClr val="4A80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4290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advance warning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42062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7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model output to a farmer's ability to act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COMMUNICATION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only helps if people trust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5" name="Shape 3"/>
          <p:cNvSpPr/>
          <p:nvPr/>
        </p:nvSpPr>
        <p:spPr>
          <a:xfrm>
            <a:off x="1559052" y="1947672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ppt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0848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974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this help me grow more, and is it easy to use?”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4400" y="4572000"/>
            <a:ext cx="187452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7091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voice/USSD, local-language demos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12" name="Shape 9"/>
          <p:cNvSpPr/>
          <p:nvPr/>
        </p:nvSpPr>
        <p:spPr>
          <a:xfrm>
            <a:off x="4393692" y="1947672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3" name="Image 1" descr="/home/claude/ppt/icons/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08483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6974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66160" y="33832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trust this and explain it to farmers?”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749040" y="4572000"/>
            <a:ext cx="187452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66160" y="47091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workshops, one-page reference guides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19" name="Shape 15"/>
          <p:cNvSpPr/>
          <p:nvPr/>
        </p:nvSpPr>
        <p:spPr>
          <a:xfrm>
            <a:off x="7228332" y="1947672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0" name="Image 2" descr="/home/claude/ppt/icons/build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92" y="208483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82512" y="26974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Managers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0" y="33832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this cost, and how do I roll it out?”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583680" y="4572000"/>
            <a:ext cx="187452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00800" y="47091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one-pager, dashboard demo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5256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E7EFE9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62972" y="1947672"/>
            <a:ext cx="585216" cy="58521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7" name="Image 3" descr="/home/claude/ppt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132" y="208483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17152" y="26974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Sponsors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235440" y="33832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return on investment?”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418320" y="4572000"/>
            <a:ext cx="1874520" cy="0"/>
          </a:xfrm>
          <a:prstGeom prst="line">
            <a:avLst/>
          </a:prstGeom>
          <a:noFill/>
          <a:ln w="12700">
            <a:solidFill>
              <a:srgbClr val="C9DAD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235440" y="470916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summary, quarterly KPI briefing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and how they're mitigated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E7EFE9"/>
          </a:solidFill>
          <a:ln w="9525">
            <a:solidFill>
              <a:srgbClr val="E3E3DE"/>
            </a:solidFill>
            <a:prstDash val="solid"/>
          </a:ln>
        </p:spPr>
      </p:sp>
      <p:pic>
        <p:nvPicPr>
          <p:cNvPr id="5" name="Image 0" descr="/home/claude/ppt/icons/warnin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connectivity blocks access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75120" y="194767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194767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01000" y="178308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caching + SMS/USSD fallback channel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pic>
        <p:nvPicPr>
          <p:cNvPr id="11" name="Image 1" descr="/home/claude/ppt/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17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34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farmer trust / adoption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675120" y="299923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14" name="Text 10"/>
          <p:cNvSpPr/>
          <p:nvPr/>
        </p:nvSpPr>
        <p:spPr>
          <a:xfrm>
            <a:off x="6675120" y="29992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001000" y="283464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champions, co-design pilot, transparent overrides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E7EFE9"/>
          </a:solidFill>
          <a:ln w="9525">
            <a:solidFill>
              <a:srgbClr val="E3E3DE"/>
            </a:solidFill>
            <a:prstDash val="solid"/>
          </a:ln>
        </p:spPr>
      </p:sp>
      <p:pic>
        <p:nvPicPr>
          <p:cNvPr id="17" name="Image 2" descr="/home/claude/ppt/icons/warning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8862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across seasons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0507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C97B2C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05079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001000" y="38862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drift monitoring &amp; retraining cycle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8463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3DE"/>
            </a:solidFill>
            <a:prstDash val="solid"/>
          </a:ln>
        </p:spPr>
      </p:sp>
      <p:pic>
        <p:nvPicPr>
          <p:cNvPr id="23" name="Image 3" descr="/home/claude/ppt/icons/warnin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206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49377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concerns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675120" y="510235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C97B2C"/>
          </a:solidFill>
          <a:ln/>
        </p:spPr>
      </p:sp>
      <p:sp>
        <p:nvSpPr>
          <p:cNvPr id="26" name="Text 20"/>
          <p:cNvSpPr/>
          <p:nvPr/>
        </p:nvSpPr>
        <p:spPr>
          <a:xfrm>
            <a:off x="6675120" y="510235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001000" y="49377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aggregation, informed consent, clear data policy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 at pilot's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4332"/>
          </a:solidFill>
          <a:ln/>
        </p:spPr>
      </p:sp>
      <p:sp>
        <p:nvSpPr>
          <p:cNvPr id="5" name="Shape 3"/>
          <p:cNvSpPr/>
          <p:nvPr/>
        </p:nvSpPr>
        <p:spPr>
          <a:xfrm>
            <a:off x="1298448" y="2194560"/>
            <a:ext cx="585216" cy="585216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6" name="Image 0" descr="/home/claude/pp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3317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accuracy, precision/recall per disease class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2798064" y="192024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4332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2194560"/>
            <a:ext cx="585216" cy="585216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11" name="Image 1" descr="/home/claude/ppt/icons/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33172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35224" y="352044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speed, stability under low connectivity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047488" y="192024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4332"/>
          </a:solidFill>
          <a:ln/>
        </p:spPr>
      </p:sp>
      <p:sp>
        <p:nvSpPr>
          <p:cNvPr id="15" name="Shape 11"/>
          <p:cNvSpPr/>
          <p:nvPr/>
        </p:nvSpPr>
        <p:spPr>
          <a:xfrm>
            <a:off x="5797296" y="2194560"/>
            <a:ext cx="585216" cy="585216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16" name="Image 2" descr="/home/claude/ppt/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233172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4648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184648" y="352044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diagnosis turnaround, lower disease-related yield loss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7296912" y="192024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4332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0" y="2194560"/>
            <a:ext cx="585216" cy="585216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21" name="Image 3" descr="/home/claude/ppt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33172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34072" y="352044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farmers, repeat usage, onboarding feedback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9546336" y="192024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4332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96144" y="2194560"/>
            <a:ext cx="585216" cy="585216"/>
          </a:xfrm>
          <a:prstGeom prst="ellipse">
            <a:avLst/>
          </a:prstGeom>
          <a:solidFill>
            <a:srgbClr val="C97B2C"/>
          </a:solidFill>
          <a:ln/>
        </p:spPr>
      </p:sp>
      <p:pic>
        <p:nvPicPr>
          <p:cNvPr id="26" name="Image 4" descr="/home/claude/ppt/icons/build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304" y="233172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83496" y="2971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683496" y="352044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DC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input waste, scalable cost per new region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pilot KPI: reduced diagnosis turnaround time and a measurable decrease in disease-driven yield loss, versus control plots, across a 16-week pilot.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4846320"/>
            <a:ext cx="5029200" cy="5029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7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strategy to a deployable playbook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46304" cy="146304"/>
          </a:xfrm>
          <a:prstGeom prst="ellipse">
            <a:avLst/>
          </a:prstGeom>
          <a:solidFill>
            <a:srgbClr val="C97B2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574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technically strong model fails if it ignores field connectivity, hardware, and trust — deployment planning matters as much as model accuracy.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090672"/>
            <a:ext cx="146304" cy="146304"/>
          </a:xfrm>
          <a:prstGeom prst="ellipse">
            <a:avLst/>
          </a:prstGeom>
          <a:solidFill>
            <a:srgbClr val="C97B2C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95351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data quality issues follow agronomic logic, not random noise — domain knowledge should drive every cleaning and feature-engineering decision.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986784"/>
            <a:ext cx="146304" cy="146304"/>
          </a:xfrm>
          <a:prstGeom prst="ellipse">
            <a:avLst/>
          </a:prstGeom>
          <a:solidFill>
            <a:srgbClr val="C97B2C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84962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actionability lead-time matter more than raw accuracy when a missed outbreak can cost an entire harvest.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882896"/>
            <a:ext cx="146304" cy="146304"/>
          </a:xfrm>
          <a:prstGeom prst="ellipse">
            <a:avLst/>
          </a:prstGeom>
          <a:solidFill>
            <a:srgbClr val="C97B2C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74573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four-week arc — strategy, data, model, deployment — produced a working playbook a real team could execute against.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— Internship Report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572000" cy="4572000"/>
          </a:xfrm>
          <a:prstGeom prst="ellipse">
            <a:avLst/>
          </a:prstGeom>
          <a:solidFill>
            <a:srgbClr val="E7EFE9"/>
          </a:solidFill>
          <a:ln/>
        </p:spPr>
      </p:sp>
      <p:pic>
        <p:nvPicPr>
          <p:cNvPr id="3" name="Image 0" descr="/home/claude/ppt/icons/leaf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709160"/>
            <a:ext cx="2743200" cy="0"/>
          </a:xfrm>
          <a:prstGeom prst="line">
            <a:avLst/>
          </a:prstGeom>
          <a:noFill/>
          <a:ln w="25400">
            <a:solidFill>
              <a:srgbClr val="C97B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Shyam Jee Upadhyay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193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· 3CSE3 · Roll No. 2410030380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54498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ML Engineer – Agribusiness Intern, YuvaIntern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2026-09-10T18:13:28Z</dcterms:created>
  <dcterms:modified xsi:type="dcterms:W3CDTF">2026-09-10T18:13:28Z</dcterms:modified>
</cp:coreProperties>
</file>